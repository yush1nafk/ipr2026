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15"/>
  </p:handoutMasterIdLst>
  <p:sldIdLst>
    <p:sldId id="289" r:id="rId5"/>
    <p:sldId id="290" r:id="rId6"/>
    <p:sldId id="302" r:id="rId7"/>
    <p:sldId id="301" r:id="rId8"/>
    <p:sldId id="293" r:id="rId9"/>
    <p:sldId id="294" r:id="rId10"/>
    <p:sldId id="303" r:id="rId11"/>
    <p:sldId id="300" r:id="rId12"/>
    <p:sldId id="297" r:id="rId13"/>
    <p:sldId id="299" r:id="rId14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17" r:id="rId33"/>
    <p:sldId id="318" r:id="rId34"/>
    <p:sldId id="319" r:id="rId35"/>
    <p:sldId id="320" r:id="rId36"/>
    <p:sldId id="321" r:id="rId37"/>
    <p:sldId id="322" r:id="rId38"/>
    <p:sldId id="323" r:id="rId39"/>
    <p:sldId id="324" r:id="rId40"/>
    <p:sldId id="325" r:id="rId41"/>
    <p:sldId id="326" r:id="rId42"/>
    <p:sldId id="327" r:id="rId43"/>
    <p:sldId id="328" r:id="rId44"/>
    <p:sldId id="329" r:id="rId45"/>
    <p:sldId id="330" r:id="rId46"/>
    <p:sldId id="331" r:id="rId47"/>
    <p:sldId id="332" r:id="rId48"/>
    <p:sldId id="333" r:id="rId49"/>
    <p:sldId id="334" r:id="rId50"/>
    <p:sldId id="335" r:id="rId51"/>
    <p:sldId id="336" r:id="rId52"/>
    <p:sldId id="337" r:id="rId53"/>
    <p:sldId id="338" r:id="rId54"/>
    <p:sldId id="339" r:id="rId55"/>
    <p:sldId id="340" r:id="rId56"/>
    <p:sldId id="341" r:id="rId57"/>
    <p:sldId id="342" r:id="rId58"/>
    <p:sldId id="343" r:id="rId59"/>
    <p:sldId id="344" r:id="rId60"/>
    <p:sldId id="345" r:id="rId61"/>
    <p:sldId id="346" r:id="rId62"/>
    <p:sldId id="347" r:id="rId63"/>
    <p:sldId id="348" r:id="rId64"/>
    <p:sldId id="349" r:id="rId65"/>
    <p:sldId id="350" r:id="rId66"/>
    <p:sldId id="351" r:id="rId67"/>
    <p:sldId id="352" r:id="rId68"/>
    <p:sldId id="353" r:id="rId69"/>
    <p:sldId id="354" r:id="rId70"/>
    <p:sldId id="355" r:id="rId71"/>
    <p:sldId id="356" r:id="rId72"/>
    <p:sldId id="357" r:id="rId73"/>
    <p:sldId id="358" r:id="rId74"/>
    <p:sldId id="359" r:id="rId75"/>
    <p:sldId id="360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4" userDrawn="1">
          <p15:clr>
            <a:srgbClr val="A4A3A4"/>
          </p15:clr>
        </p15:guide>
        <p15:guide id="2" pos="576" userDrawn="1">
          <p15:clr>
            <a:srgbClr val="A4A3A4"/>
          </p15:clr>
        </p15:guide>
        <p15:guide id="8" orient="horz" pos="3744" userDrawn="1">
          <p15:clr>
            <a:srgbClr val="A4A3A4"/>
          </p15:clr>
        </p15:guide>
        <p15:guide id="9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3725" autoAdjust="0"/>
  </p:normalViewPr>
  <p:slideViewPr>
    <p:cSldViewPr snapToGrid="0" showGuides="1">
      <p:cViewPr varScale="1">
        <p:scale>
          <a:sx n="118" d="100"/>
          <a:sy n="118" d="100"/>
        </p:scale>
        <p:origin x="252" y="96"/>
      </p:cViewPr>
      <p:guideLst>
        <p:guide orient="horz" pos="1344"/>
        <p:guide pos="576"/>
        <p:guide orient="horz" pos="3744"/>
        <p:guide pos="3840"/>
      </p:guideLst>
    </p:cSldViewPr>
  </p:slideViewPr>
  <p:outlineViewPr>
    <p:cViewPr>
      <p:scale>
        <a:sx n="33" d="100"/>
        <a:sy n="33" d="100"/>
      </p:scale>
      <p:origin x="0" y="-593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2992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handoutMaster" Target="handoutMasters/handout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6" Type="http://schemas.openxmlformats.org/officeDocument/2006/relationships/slide" Target="slides/slide57.xml"/><Relationship Id="rId67" Type="http://schemas.openxmlformats.org/officeDocument/2006/relationships/slide" Target="slides/slide58.xml"/><Relationship Id="rId68" Type="http://schemas.openxmlformats.org/officeDocument/2006/relationships/slide" Target="slides/slide59.xml"/><Relationship Id="rId69" Type="http://schemas.openxmlformats.org/officeDocument/2006/relationships/slide" Target="slides/slide60.xml"/><Relationship Id="rId70" Type="http://schemas.openxmlformats.org/officeDocument/2006/relationships/slide" Target="slides/slide61.xml"/><Relationship Id="rId71" Type="http://schemas.openxmlformats.org/officeDocument/2006/relationships/slide" Target="slides/slide62.xml"/><Relationship Id="rId72" Type="http://schemas.openxmlformats.org/officeDocument/2006/relationships/slide" Target="slides/slide63.xml"/><Relationship Id="rId73" Type="http://schemas.openxmlformats.org/officeDocument/2006/relationships/slide" Target="slides/slide64.xml"/><Relationship Id="rId74" Type="http://schemas.openxmlformats.org/officeDocument/2006/relationships/slide" Target="slides/slide65.xml"/><Relationship Id="rId75" Type="http://schemas.openxmlformats.org/officeDocument/2006/relationships/slide" Target="slides/slide66.xml"/><Relationship Id="rId76" Type="http://schemas.openxmlformats.org/officeDocument/2006/relationships/slide" Target="slides/slide6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65DC31D-6BBA-1E40-9A7E-1FE0A421F3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09E10C-1649-9148-9887-C4B5DF38CE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65657-3F36-724B-A332-D448C4527D30}" type="datetimeFigureOut"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09E7DC-2FE3-FA48-929A-C3D3179E1E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F40692-4B9B-A444-A85B-911AF05DE3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F0D8CC-6079-CB40-AF25-90B118481BE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163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ADDF-D82C-4780-9143-87E5F529D8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8648" y="813816"/>
            <a:ext cx="6400800" cy="640080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text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2B550A-AB53-4D15-A89E-6EEBB5151B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41448" y="1655064"/>
            <a:ext cx="7315200" cy="1143000"/>
          </a:xfrm>
        </p:spPr>
        <p:txBody>
          <a:bodyPr/>
          <a:lstStyle>
            <a:lvl1pPr algn="ctr">
              <a:defRPr sz="8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CDE1EB1-91FE-4CB8-81BD-5BBBFC22C6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98648" y="3027707"/>
            <a:ext cx="6858000" cy="640080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1860281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E11DAB-71A2-44C9-B830-25E19DC583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1"/>
            <a:ext cx="6400800" cy="685800"/>
          </a:xfrm>
        </p:spPr>
        <p:txBody>
          <a:bodyPr>
            <a:no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F9B5FD0-EA88-4EA1-89FF-A0346C36D9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2203704"/>
            <a:ext cx="6400800" cy="420624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7116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EE24C-B229-452F-B387-BA3429761C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9119" y="946653"/>
            <a:ext cx="6857999" cy="653547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FCEFA7B-7934-4EAA-8C20-7D9B03B9E5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9120" y="1981933"/>
            <a:ext cx="6858000" cy="423367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293050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E35BBCA-FB90-42AF-995A-AA6CE87BD6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3643"/>
          <a:stretch>
            <a:fillRect/>
          </a:stretch>
        </p:blipFill>
        <p:spPr>
          <a:xfrm>
            <a:off x="914400" y="466647"/>
            <a:ext cx="10563726" cy="6391353"/>
          </a:xfrm>
          <a:custGeom>
            <a:avLst/>
            <a:gdLst>
              <a:gd name="connsiteX0" fmla="*/ 0 w 10563726"/>
              <a:gd name="connsiteY0" fmla="*/ 0 h 6391353"/>
              <a:gd name="connsiteX1" fmla="*/ 10563726 w 10563726"/>
              <a:gd name="connsiteY1" fmla="*/ 0 h 6391353"/>
              <a:gd name="connsiteX2" fmla="*/ 10563726 w 10563726"/>
              <a:gd name="connsiteY2" fmla="*/ 6391353 h 6391353"/>
              <a:gd name="connsiteX3" fmla="*/ 0 w 10563726"/>
              <a:gd name="connsiteY3" fmla="*/ 6391353 h 6391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63726" h="6391353">
                <a:moveTo>
                  <a:pt x="0" y="0"/>
                </a:moveTo>
                <a:lnTo>
                  <a:pt x="10563726" y="0"/>
                </a:lnTo>
                <a:lnTo>
                  <a:pt x="10563726" y="6391353"/>
                </a:lnTo>
                <a:lnTo>
                  <a:pt x="0" y="639135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F399BE-6A96-4D58-AF62-861F9AE20C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1718" y="1460692"/>
            <a:ext cx="7772402" cy="6858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AE12991-70DA-442D-98F3-6739146463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31720" y="2724912"/>
            <a:ext cx="7772401" cy="36576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F778D16-894A-4379-8B5B-DC2423451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3021930" y="2240374"/>
            <a:ext cx="6148139" cy="19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29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106A418-68CC-4D3D-9032-696498842F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1"/>
            <a:ext cx="6400800" cy="685800"/>
          </a:xfrm>
        </p:spPr>
        <p:txBody>
          <a:bodyPr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E93C440-01C8-4E08-A98E-D76F10D08B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1913064"/>
            <a:ext cx="6858001" cy="427939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560476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7AA20A23-A33B-4A1B-9162-707282E535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602"/>
          <a:stretch>
            <a:fillRect/>
          </a:stretch>
        </p:blipFill>
        <p:spPr>
          <a:xfrm>
            <a:off x="1066800" y="523183"/>
            <a:ext cx="10058400" cy="6334817"/>
          </a:xfrm>
          <a:custGeom>
            <a:avLst/>
            <a:gdLst>
              <a:gd name="connsiteX0" fmla="*/ 0 w 10058400"/>
              <a:gd name="connsiteY0" fmla="*/ 0 h 6334817"/>
              <a:gd name="connsiteX1" fmla="*/ 10058400 w 10058400"/>
              <a:gd name="connsiteY1" fmla="*/ 0 h 6334817"/>
              <a:gd name="connsiteX2" fmla="*/ 10058400 w 10058400"/>
              <a:gd name="connsiteY2" fmla="*/ 6334817 h 6334817"/>
              <a:gd name="connsiteX3" fmla="*/ 0 w 10058400"/>
              <a:gd name="connsiteY3" fmla="*/ 6334817 h 6334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58400" h="6334817">
                <a:moveTo>
                  <a:pt x="0" y="0"/>
                </a:moveTo>
                <a:lnTo>
                  <a:pt x="10058400" y="0"/>
                </a:lnTo>
                <a:lnTo>
                  <a:pt x="10058400" y="6334817"/>
                </a:lnTo>
                <a:lnTo>
                  <a:pt x="0" y="6334817"/>
                </a:lnTo>
                <a:close/>
              </a:path>
            </a:pathLst>
          </a:cu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136F446-5EA3-48C4-AA8D-AB9850B03B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1718" y="1460692"/>
            <a:ext cx="7772402" cy="685800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6B70600-CFB5-4805-BC68-5AE22166B5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31720" y="2951305"/>
            <a:ext cx="7772400" cy="3456432"/>
          </a:xfrm>
        </p:spPr>
        <p:txBody>
          <a:bodyPr/>
          <a:lstStyle>
            <a:lvl1pPr algn="l"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9C8060D-32CA-4A3C-9EAF-A2D3801AB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3021930" y="2240374"/>
            <a:ext cx="6148139" cy="19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022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CC92641-A8C8-41F9-8E1C-7C929693C6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9119" y="946653"/>
            <a:ext cx="6857999" cy="653547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CC55B6-E9DA-4B68-A0D8-957F46B465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9120" y="2062956"/>
            <a:ext cx="6858000" cy="423367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2630451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C6103AFC-AC4C-4756-AEEE-B0D669AC8C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4880"/>
          <a:stretch>
            <a:fillRect/>
          </a:stretch>
        </p:blipFill>
        <p:spPr>
          <a:xfrm>
            <a:off x="878302" y="469222"/>
            <a:ext cx="10424160" cy="6388778"/>
          </a:xfrm>
          <a:custGeom>
            <a:avLst/>
            <a:gdLst>
              <a:gd name="connsiteX0" fmla="*/ 0 w 10424160"/>
              <a:gd name="connsiteY0" fmla="*/ 0 h 6388778"/>
              <a:gd name="connsiteX1" fmla="*/ 10424160 w 10424160"/>
              <a:gd name="connsiteY1" fmla="*/ 0 h 6388778"/>
              <a:gd name="connsiteX2" fmla="*/ 10424160 w 10424160"/>
              <a:gd name="connsiteY2" fmla="*/ 6388778 h 6388778"/>
              <a:gd name="connsiteX3" fmla="*/ 0 w 10424160"/>
              <a:gd name="connsiteY3" fmla="*/ 6388778 h 6388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24160" h="6388778">
                <a:moveTo>
                  <a:pt x="0" y="0"/>
                </a:moveTo>
                <a:lnTo>
                  <a:pt x="10424160" y="0"/>
                </a:lnTo>
                <a:lnTo>
                  <a:pt x="10424160" y="6388778"/>
                </a:lnTo>
                <a:lnTo>
                  <a:pt x="0" y="6388778"/>
                </a:lnTo>
                <a:close/>
              </a:path>
            </a:pathLst>
          </a:cu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4604EF9-570E-48F5-BA06-DEB9EB7F7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9" y="1460692"/>
            <a:ext cx="6857999" cy="6858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0B30880-FB83-4FD8-B7A4-675D68A479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0" y="2438570"/>
            <a:ext cx="6858000" cy="395020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838183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9775E2-26ED-4CEF-94F6-7C85D113D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46653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32AB5-76E2-49F4-96EE-B419AF1F0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294859"/>
            <a:ext cx="10058400" cy="3720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60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7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6" userDrawn="1">
          <p15:clr>
            <a:srgbClr val="F26B43"/>
          </p15:clr>
        </p15:guide>
        <p15:guide id="2" pos="576" userDrawn="1">
          <p15:clr>
            <a:srgbClr val="F26B43"/>
          </p15:clr>
        </p15:guide>
        <p15:guide id="3" pos="7104" userDrawn="1">
          <p15:clr>
            <a:srgbClr val="F26B43"/>
          </p15:clr>
        </p15:guide>
        <p15:guide id="4" orient="horz" pos="3744" userDrawn="1">
          <p15:clr>
            <a:srgbClr val="F26B43"/>
          </p15:clr>
        </p15:guide>
        <p15:guide id="5" pos="2760" userDrawn="1">
          <p15:clr>
            <a:srgbClr val="F26B43"/>
          </p15:clr>
        </p15:guide>
        <p15:guide id="6" pos="4944" userDrawn="1">
          <p15:clr>
            <a:srgbClr val="F26B43"/>
          </p15:clr>
        </p15:guide>
        <p15:guide id="7" orient="horz" pos="403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Relationship Id="rId8" Type="http://schemas.openxmlformats.org/officeDocument/2006/relationships/image" Target="../media/image15.png"/><Relationship Id="rId9" Type="http://schemas.openxmlformats.org/officeDocument/2006/relationships/image" Target="../media/image16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7E3D5-B129-455A-8D61-5DE355CF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+mj-lt"/>
              </a:rPr>
              <a:t>Elm Elementary School</a:t>
            </a:r>
            <a:br>
              <a:rPr lang="en-US" dirty="0">
                <a:latin typeface="+mj-lt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512D6-1B42-4E1C-AEE3-478A340AC1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Open House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348B4-1179-40C0-B903-717D79F0A3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September 8, 20xx</a:t>
            </a:r>
          </a:p>
          <a:p>
            <a:endParaRPr lang="en-US" dirty="0"/>
          </a:p>
        </p:txBody>
      </p:sp>
      <p:pic>
        <p:nvPicPr>
          <p:cNvPr id="12" name="Graphic 11" descr="Illustration of a pencil character ">
            <a:extLst>
              <a:ext uri="{FF2B5EF4-FFF2-40B4-BE49-F238E27FC236}">
                <a16:creationId xmlns:a16="http://schemas.microsoft.com/office/drawing/2014/main" id="{937FAC84-23F1-401F-A313-68AD63D60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077964">
            <a:off x="1811563" y="4144102"/>
            <a:ext cx="1155789" cy="1971643"/>
          </a:xfrm>
          <a:prstGeom prst="rect">
            <a:avLst/>
          </a:prstGeom>
        </p:spPr>
      </p:pic>
      <p:pic>
        <p:nvPicPr>
          <p:cNvPr id="8" name="Graphic 7" descr="Illustration of a blue bag of school supplies character ">
            <a:extLst>
              <a:ext uri="{FF2B5EF4-FFF2-40B4-BE49-F238E27FC236}">
                <a16:creationId xmlns:a16="http://schemas.microsoft.com/office/drawing/2014/main" id="{F3A63EAE-D921-4D74-B1C8-6D0E847DFD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2560" y="4391095"/>
            <a:ext cx="2483858" cy="1709233"/>
          </a:xfrm>
          <a:prstGeom prst="rect">
            <a:avLst/>
          </a:prstGeom>
        </p:spPr>
      </p:pic>
      <p:pic>
        <p:nvPicPr>
          <p:cNvPr id="10" name="Graphic 9" descr="Illustration of a purple book character ">
            <a:extLst>
              <a:ext uri="{FF2B5EF4-FFF2-40B4-BE49-F238E27FC236}">
                <a16:creationId xmlns:a16="http://schemas.microsoft.com/office/drawing/2014/main" id="{8A4FC9B1-AAE5-49E7-9209-B1CD7DC8CD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6269620" y="4059937"/>
            <a:ext cx="1775352" cy="2059055"/>
          </a:xfrm>
          <a:prstGeom prst="rect">
            <a:avLst/>
          </a:prstGeom>
        </p:spPr>
      </p:pic>
      <p:pic>
        <p:nvPicPr>
          <p:cNvPr id="6" name="Graphic 5" descr="Illustration of a globe character ">
            <a:extLst>
              <a:ext uri="{FF2B5EF4-FFF2-40B4-BE49-F238E27FC236}">
                <a16:creationId xmlns:a16="http://schemas.microsoft.com/office/drawing/2014/main" id="{A1CF0450-3738-4D52-BF18-A90C1F16AC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08174" y="4442978"/>
            <a:ext cx="2213723" cy="174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550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96520-2640-4559-BAB1-ADE3A7386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Parents!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D39638-AED5-4483-9DDA-49E033B811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1949061"/>
            <a:ext cx="6400800" cy="4206240"/>
          </a:xfrm>
        </p:spPr>
        <p:txBody>
          <a:bodyPr/>
          <a:lstStyle/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Welcome parents to your classroom.</a:t>
            </a: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List the goals for the open house:</a:t>
            </a:r>
          </a:p>
          <a:p>
            <a:pPr marL="742950" lvl="1" indent="-28575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help parents understand the work their child will be doing throughout the school year.</a:t>
            </a:r>
          </a:p>
          <a:p>
            <a:pPr marL="742950" lvl="1" indent="-28575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explain your expectations of their child.</a:t>
            </a:r>
          </a:p>
          <a:p>
            <a:pPr marL="742950" lvl="1" indent="-28575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share information about how parents can support their child’s learning.</a:t>
            </a:r>
          </a:p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55DC304-4CC2-4AA6-99F0-241F19673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9457" y="0"/>
            <a:ext cx="3981702" cy="6858000"/>
          </a:xfrm>
          <a:custGeom>
            <a:avLst/>
            <a:gdLst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4367464 w 4367464"/>
              <a:gd name="connsiteY2" fmla="*/ 6858000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3981702 w 4367464"/>
              <a:gd name="connsiteY2" fmla="*/ 6843712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7" fmla="*/ 2056998 w 4367464"/>
              <a:gd name="connsiteY7" fmla="*/ 0 h 6858000"/>
              <a:gd name="connsiteX0" fmla="*/ 2056998 w 3981702"/>
              <a:gd name="connsiteY0" fmla="*/ 28575 h 6886575"/>
              <a:gd name="connsiteX1" fmla="*/ 3881689 w 3981702"/>
              <a:gd name="connsiteY1" fmla="*/ 0 h 6886575"/>
              <a:gd name="connsiteX2" fmla="*/ 3981702 w 3981702"/>
              <a:gd name="connsiteY2" fmla="*/ 6872287 h 6886575"/>
              <a:gd name="connsiteX3" fmla="*/ 2783919 w 3981702"/>
              <a:gd name="connsiteY3" fmla="*/ 6886575 h 6886575"/>
              <a:gd name="connsiteX4" fmla="*/ 2752534 w 3981702"/>
              <a:gd name="connsiteY4" fmla="*/ 6879332 h 6886575"/>
              <a:gd name="connsiteX5" fmla="*/ 0 w 3981702"/>
              <a:gd name="connsiteY5" fmla="*/ 3325229 h 6886575"/>
              <a:gd name="connsiteX6" fmla="*/ 1920467 w 3981702"/>
              <a:gd name="connsiteY6" fmla="*/ 98502 h 6886575"/>
              <a:gd name="connsiteX7" fmla="*/ 2056998 w 3981702"/>
              <a:gd name="connsiteY7" fmla="*/ 28575 h 6886575"/>
              <a:gd name="connsiteX0" fmla="*/ 2056998 w 3981702"/>
              <a:gd name="connsiteY0" fmla="*/ 14287 h 6872287"/>
              <a:gd name="connsiteX1" fmla="*/ 3967414 w 3981702"/>
              <a:gd name="connsiteY1" fmla="*/ 0 h 6872287"/>
              <a:gd name="connsiteX2" fmla="*/ 3981702 w 3981702"/>
              <a:gd name="connsiteY2" fmla="*/ 6857999 h 6872287"/>
              <a:gd name="connsiteX3" fmla="*/ 2783919 w 3981702"/>
              <a:gd name="connsiteY3" fmla="*/ 6872287 h 6872287"/>
              <a:gd name="connsiteX4" fmla="*/ 2752534 w 3981702"/>
              <a:gd name="connsiteY4" fmla="*/ 6865044 h 6872287"/>
              <a:gd name="connsiteX5" fmla="*/ 0 w 3981702"/>
              <a:gd name="connsiteY5" fmla="*/ 3310941 h 6872287"/>
              <a:gd name="connsiteX6" fmla="*/ 1920467 w 3981702"/>
              <a:gd name="connsiteY6" fmla="*/ 84214 h 6872287"/>
              <a:gd name="connsiteX7" fmla="*/ 2056998 w 3981702"/>
              <a:gd name="connsiteY7" fmla="*/ 14287 h 6872287"/>
              <a:gd name="connsiteX0" fmla="*/ 2056998 w 4039095"/>
              <a:gd name="connsiteY0" fmla="*/ 14287 h 6872287"/>
              <a:gd name="connsiteX1" fmla="*/ 4038852 w 4039095"/>
              <a:gd name="connsiteY1" fmla="*/ 0 h 6872287"/>
              <a:gd name="connsiteX2" fmla="*/ 3981702 w 4039095"/>
              <a:gd name="connsiteY2" fmla="*/ 6857999 h 6872287"/>
              <a:gd name="connsiteX3" fmla="*/ 2783919 w 4039095"/>
              <a:gd name="connsiteY3" fmla="*/ 6872287 h 6872287"/>
              <a:gd name="connsiteX4" fmla="*/ 2752534 w 4039095"/>
              <a:gd name="connsiteY4" fmla="*/ 6865044 h 6872287"/>
              <a:gd name="connsiteX5" fmla="*/ 0 w 4039095"/>
              <a:gd name="connsiteY5" fmla="*/ 3310941 h 6872287"/>
              <a:gd name="connsiteX6" fmla="*/ 1920467 w 4039095"/>
              <a:gd name="connsiteY6" fmla="*/ 84214 h 6872287"/>
              <a:gd name="connsiteX7" fmla="*/ 2056998 w 4039095"/>
              <a:gd name="connsiteY7" fmla="*/ 14287 h 6872287"/>
              <a:gd name="connsiteX0" fmla="*/ 2056998 w 3981702"/>
              <a:gd name="connsiteY0" fmla="*/ 0 h 6858000"/>
              <a:gd name="connsiteX1" fmla="*/ 3953127 w 3981702"/>
              <a:gd name="connsiteY1" fmla="*/ 0 h 6858000"/>
              <a:gd name="connsiteX2" fmla="*/ 3981702 w 3981702"/>
              <a:gd name="connsiteY2" fmla="*/ 6843712 h 6858000"/>
              <a:gd name="connsiteX3" fmla="*/ 2783919 w 3981702"/>
              <a:gd name="connsiteY3" fmla="*/ 6858000 h 6858000"/>
              <a:gd name="connsiteX4" fmla="*/ 2752534 w 3981702"/>
              <a:gd name="connsiteY4" fmla="*/ 6850757 h 6858000"/>
              <a:gd name="connsiteX5" fmla="*/ 0 w 3981702"/>
              <a:gd name="connsiteY5" fmla="*/ 3296654 h 6858000"/>
              <a:gd name="connsiteX6" fmla="*/ 1920467 w 3981702"/>
              <a:gd name="connsiteY6" fmla="*/ 69927 h 6858000"/>
              <a:gd name="connsiteX7" fmla="*/ 2056998 w 398170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81702" h="6858000">
                <a:moveTo>
                  <a:pt x="2056998" y="0"/>
                </a:moveTo>
                <a:lnTo>
                  <a:pt x="3953127" y="0"/>
                </a:lnTo>
                <a:cubicBezTo>
                  <a:pt x="3957890" y="2286000"/>
                  <a:pt x="3976939" y="4557712"/>
                  <a:pt x="3981702" y="6843712"/>
                </a:cubicBezTo>
                <a:lnTo>
                  <a:pt x="2783919" y="6858000"/>
                </a:lnTo>
                <a:lnTo>
                  <a:pt x="2752534" y="6850757"/>
                </a:lnTo>
                <a:cubicBezTo>
                  <a:pt x="1169639" y="6443496"/>
                  <a:pt x="0" y="5006667"/>
                  <a:pt x="0" y="3296654"/>
                </a:cubicBezTo>
                <a:cubicBezTo>
                  <a:pt x="0" y="1903310"/>
                  <a:pt x="776551" y="691340"/>
                  <a:pt x="1920467" y="69927"/>
                </a:cubicBezTo>
                <a:lnTo>
                  <a:pt x="205699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Graphic 9" descr="Illustration of a blue bag of school supplies character ">
            <a:extLst>
              <a:ext uri="{FF2B5EF4-FFF2-40B4-BE49-F238E27FC236}">
                <a16:creationId xmlns:a16="http://schemas.microsoft.com/office/drawing/2014/main" id="{6F5EC1ED-E527-4E5A-A0D8-3D0719060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48159" y="2203704"/>
            <a:ext cx="3444298" cy="242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952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61755D0-5562-4A11-BF40-227C0B57E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Curriculum Goals</a:t>
            </a:r>
          </a:p>
        </p:txBody>
      </p:sp>
      <p:sp>
        <p:nvSpPr>
          <p:cNvPr id="6" name="Freeform: Shape 14">
            <a:extLst>
              <a:ext uri="{FF2B5EF4-FFF2-40B4-BE49-F238E27FC236}">
                <a16:creationId xmlns:a16="http://schemas.microsoft.com/office/drawing/2014/main" id="{868E2822-F0BF-D949-B8E2-C5C9D5994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28576" y="0"/>
            <a:ext cx="3987118" cy="6867328"/>
          </a:xfrm>
          <a:custGeom>
            <a:avLst/>
            <a:gdLst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4367464 w 4367464"/>
              <a:gd name="connsiteY2" fmla="*/ 6858000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3981702 w 4367464"/>
              <a:gd name="connsiteY2" fmla="*/ 6843712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7" fmla="*/ 2056998 w 4367464"/>
              <a:gd name="connsiteY7" fmla="*/ 0 h 6858000"/>
              <a:gd name="connsiteX0" fmla="*/ 2056998 w 3981702"/>
              <a:gd name="connsiteY0" fmla="*/ 28575 h 6886575"/>
              <a:gd name="connsiteX1" fmla="*/ 3881689 w 3981702"/>
              <a:gd name="connsiteY1" fmla="*/ 0 h 6886575"/>
              <a:gd name="connsiteX2" fmla="*/ 3981702 w 3981702"/>
              <a:gd name="connsiteY2" fmla="*/ 6872287 h 6886575"/>
              <a:gd name="connsiteX3" fmla="*/ 2783919 w 3981702"/>
              <a:gd name="connsiteY3" fmla="*/ 6886575 h 6886575"/>
              <a:gd name="connsiteX4" fmla="*/ 2752534 w 3981702"/>
              <a:gd name="connsiteY4" fmla="*/ 6879332 h 6886575"/>
              <a:gd name="connsiteX5" fmla="*/ 0 w 3981702"/>
              <a:gd name="connsiteY5" fmla="*/ 3325229 h 6886575"/>
              <a:gd name="connsiteX6" fmla="*/ 1920467 w 3981702"/>
              <a:gd name="connsiteY6" fmla="*/ 98502 h 6886575"/>
              <a:gd name="connsiteX7" fmla="*/ 2056998 w 3981702"/>
              <a:gd name="connsiteY7" fmla="*/ 28575 h 6886575"/>
              <a:gd name="connsiteX0" fmla="*/ 2056998 w 3981702"/>
              <a:gd name="connsiteY0" fmla="*/ 14287 h 6872287"/>
              <a:gd name="connsiteX1" fmla="*/ 3967414 w 3981702"/>
              <a:gd name="connsiteY1" fmla="*/ 0 h 6872287"/>
              <a:gd name="connsiteX2" fmla="*/ 3981702 w 3981702"/>
              <a:gd name="connsiteY2" fmla="*/ 6857999 h 6872287"/>
              <a:gd name="connsiteX3" fmla="*/ 2783919 w 3981702"/>
              <a:gd name="connsiteY3" fmla="*/ 6872287 h 6872287"/>
              <a:gd name="connsiteX4" fmla="*/ 2752534 w 3981702"/>
              <a:gd name="connsiteY4" fmla="*/ 6865044 h 6872287"/>
              <a:gd name="connsiteX5" fmla="*/ 0 w 3981702"/>
              <a:gd name="connsiteY5" fmla="*/ 3310941 h 6872287"/>
              <a:gd name="connsiteX6" fmla="*/ 1920467 w 3981702"/>
              <a:gd name="connsiteY6" fmla="*/ 84214 h 6872287"/>
              <a:gd name="connsiteX7" fmla="*/ 2056998 w 3981702"/>
              <a:gd name="connsiteY7" fmla="*/ 14287 h 6872287"/>
              <a:gd name="connsiteX0" fmla="*/ 2056998 w 4039095"/>
              <a:gd name="connsiteY0" fmla="*/ 14287 h 6872287"/>
              <a:gd name="connsiteX1" fmla="*/ 4038852 w 4039095"/>
              <a:gd name="connsiteY1" fmla="*/ 0 h 6872287"/>
              <a:gd name="connsiteX2" fmla="*/ 3981702 w 4039095"/>
              <a:gd name="connsiteY2" fmla="*/ 6857999 h 6872287"/>
              <a:gd name="connsiteX3" fmla="*/ 2783919 w 4039095"/>
              <a:gd name="connsiteY3" fmla="*/ 6872287 h 6872287"/>
              <a:gd name="connsiteX4" fmla="*/ 2752534 w 4039095"/>
              <a:gd name="connsiteY4" fmla="*/ 6865044 h 6872287"/>
              <a:gd name="connsiteX5" fmla="*/ 0 w 4039095"/>
              <a:gd name="connsiteY5" fmla="*/ 3310941 h 6872287"/>
              <a:gd name="connsiteX6" fmla="*/ 1920467 w 4039095"/>
              <a:gd name="connsiteY6" fmla="*/ 84214 h 6872287"/>
              <a:gd name="connsiteX7" fmla="*/ 2056998 w 4039095"/>
              <a:gd name="connsiteY7" fmla="*/ 14287 h 6872287"/>
              <a:gd name="connsiteX0" fmla="*/ 2056998 w 3981702"/>
              <a:gd name="connsiteY0" fmla="*/ 0 h 6858000"/>
              <a:gd name="connsiteX1" fmla="*/ 3953127 w 3981702"/>
              <a:gd name="connsiteY1" fmla="*/ 0 h 6858000"/>
              <a:gd name="connsiteX2" fmla="*/ 3981702 w 3981702"/>
              <a:gd name="connsiteY2" fmla="*/ 6843712 h 6858000"/>
              <a:gd name="connsiteX3" fmla="*/ 2783919 w 3981702"/>
              <a:gd name="connsiteY3" fmla="*/ 6858000 h 6858000"/>
              <a:gd name="connsiteX4" fmla="*/ 2752534 w 3981702"/>
              <a:gd name="connsiteY4" fmla="*/ 6850757 h 6858000"/>
              <a:gd name="connsiteX5" fmla="*/ 0 w 3981702"/>
              <a:gd name="connsiteY5" fmla="*/ 3296654 h 6858000"/>
              <a:gd name="connsiteX6" fmla="*/ 1920467 w 3981702"/>
              <a:gd name="connsiteY6" fmla="*/ 69927 h 6858000"/>
              <a:gd name="connsiteX7" fmla="*/ 2056998 w 398170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81702" h="6858000">
                <a:moveTo>
                  <a:pt x="2056998" y="0"/>
                </a:moveTo>
                <a:lnTo>
                  <a:pt x="3953127" y="0"/>
                </a:lnTo>
                <a:cubicBezTo>
                  <a:pt x="3957890" y="2286000"/>
                  <a:pt x="3976939" y="4557712"/>
                  <a:pt x="3981702" y="6843712"/>
                </a:cubicBezTo>
                <a:lnTo>
                  <a:pt x="2783919" y="6858000"/>
                </a:lnTo>
                <a:lnTo>
                  <a:pt x="2752534" y="6850757"/>
                </a:lnTo>
                <a:cubicBezTo>
                  <a:pt x="1169639" y="6443496"/>
                  <a:pt x="0" y="5006667"/>
                  <a:pt x="0" y="3296654"/>
                </a:cubicBezTo>
                <a:cubicBezTo>
                  <a:pt x="0" y="1903310"/>
                  <a:pt x="776551" y="691340"/>
                  <a:pt x="1920467" y="69927"/>
                </a:cubicBezTo>
                <a:lnTo>
                  <a:pt x="205699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phic 4" descr="Illustration of a purple book character">
            <a:extLst>
              <a:ext uri="{FF2B5EF4-FFF2-40B4-BE49-F238E27FC236}">
                <a16:creationId xmlns:a16="http://schemas.microsoft.com/office/drawing/2014/main" id="{66D65075-912A-0B45-A895-6C8FA62F3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88912" y="2074690"/>
            <a:ext cx="2240025" cy="270861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50585-CA92-EB41-9898-BB8983638A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89120" y="1935634"/>
            <a:ext cx="6858000" cy="4233672"/>
          </a:xfrm>
        </p:spPr>
        <p:txBody>
          <a:bodyPr/>
          <a:lstStyle/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Describe what the students will study during the school year, including the overall curriculum plans and goals.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Include a detailed, colorful syllabus for parents to take home. 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Suggest ways that parents can help their child learn, such as reading together for 20 minutes a day.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Use more than one slide to cover this information.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736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4B320A-560D-4493-AA6A-79A2C8DC3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In-class Activity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2FFE3-A7C7-9249-96D4-8D9AC15E01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ts val="2800"/>
              </a:lnSpc>
            </a:pPr>
            <a:r>
              <a:rPr lang="en-US" dirty="0"/>
              <a:t>Invite parents to take part in an activity, and then discuss it. Some ideas include:</a:t>
            </a: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Solving a math problem, such as estimating the number of beans in a jar.</a:t>
            </a: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Writing an encouraging letter to their child. </a:t>
            </a: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Going on a classroom scavenger hunt for their child's work, the books their child likes best, and messages from their child. </a:t>
            </a:r>
          </a:p>
          <a:p>
            <a:endParaRPr lang="en-US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939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D4A52C-1616-4DE9-8F38-FB14C8732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Information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163D03-0474-4A43-A81C-E7FC3027F2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1913294"/>
            <a:ext cx="6400800" cy="4206240"/>
          </a:xfrm>
        </p:spPr>
        <p:txBody>
          <a:bodyPr/>
          <a:lstStyle/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Explain how students will be evaluated and graded.</a:t>
            </a:r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Tell parents when report cards and progress reports will be sent home.</a:t>
            </a:r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Describe the amount of homework students can expect.</a:t>
            </a:r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Provide a calendar of upcoming events, such as class field trips and parent-teacher conferences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4E64823-B1F6-4468-BC94-C8D367B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37692" y="1714500"/>
            <a:ext cx="3429000" cy="3429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 descr="Illustration of a globe character ">
            <a:extLst>
              <a:ext uri="{FF2B5EF4-FFF2-40B4-BE49-F238E27FC236}">
                <a16:creationId xmlns:a16="http://schemas.microsoft.com/office/drawing/2014/main" id="{ABDECD10-E1E7-4208-B869-09373BB9D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72" y="2491609"/>
            <a:ext cx="2645040" cy="208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246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B7C4AF-BB0C-400D-A8AA-F137B0266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Rules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4F2D27-80D1-43A4-B893-7086233F7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6716" y="1714500"/>
            <a:ext cx="3429000" cy="3429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 descr="Illustration of a ruler character ">
            <a:extLst>
              <a:ext uri="{FF2B5EF4-FFF2-40B4-BE49-F238E27FC236}">
                <a16:creationId xmlns:a16="http://schemas.microsoft.com/office/drawing/2014/main" id="{4B6C31E8-1BAB-42D1-B428-60F38E95B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423556" flipH="1">
            <a:off x="900791" y="3052708"/>
            <a:ext cx="3041146" cy="96426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62FEA6-8248-4738-93E1-2DBD6D4DB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89120" y="1947209"/>
            <a:ext cx="6858000" cy="4233672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Explain the behavior you expect in your classroom. </a:t>
            </a: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Your class rules might include: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 respectful.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 responsible.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Follow directions.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 punctual.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 organized.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 a self-starter.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 prepared.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698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917F77-243B-4BBF-93F5-981B78189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School Policies</a:t>
            </a:r>
          </a:p>
        </p:txBody>
      </p:sp>
      <p:sp>
        <p:nvSpPr>
          <p:cNvPr id="6" name="Freeform: Shape 14">
            <a:extLst>
              <a:ext uri="{FF2B5EF4-FFF2-40B4-BE49-F238E27FC236}">
                <a16:creationId xmlns:a16="http://schemas.microsoft.com/office/drawing/2014/main" id="{868E2822-F0BF-D949-B8E2-C5C9D5994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flipH="1">
            <a:off x="-81024" y="0"/>
            <a:ext cx="4023360" cy="6929752"/>
          </a:xfrm>
          <a:custGeom>
            <a:avLst/>
            <a:gdLst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4367464 w 4367464"/>
              <a:gd name="connsiteY2" fmla="*/ 6858000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3981702 w 4367464"/>
              <a:gd name="connsiteY2" fmla="*/ 6843712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7" fmla="*/ 2056998 w 4367464"/>
              <a:gd name="connsiteY7" fmla="*/ 0 h 6858000"/>
              <a:gd name="connsiteX0" fmla="*/ 2056998 w 3981702"/>
              <a:gd name="connsiteY0" fmla="*/ 28575 h 6886575"/>
              <a:gd name="connsiteX1" fmla="*/ 3881689 w 3981702"/>
              <a:gd name="connsiteY1" fmla="*/ 0 h 6886575"/>
              <a:gd name="connsiteX2" fmla="*/ 3981702 w 3981702"/>
              <a:gd name="connsiteY2" fmla="*/ 6872287 h 6886575"/>
              <a:gd name="connsiteX3" fmla="*/ 2783919 w 3981702"/>
              <a:gd name="connsiteY3" fmla="*/ 6886575 h 6886575"/>
              <a:gd name="connsiteX4" fmla="*/ 2752534 w 3981702"/>
              <a:gd name="connsiteY4" fmla="*/ 6879332 h 6886575"/>
              <a:gd name="connsiteX5" fmla="*/ 0 w 3981702"/>
              <a:gd name="connsiteY5" fmla="*/ 3325229 h 6886575"/>
              <a:gd name="connsiteX6" fmla="*/ 1920467 w 3981702"/>
              <a:gd name="connsiteY6" fmla="*/ 98502 h 6886575"/>
              <a:gd name="connsiteX7" fmla="*/ 2056998 w 3981702"/>
              <a:gd name="connsiteY7" fmla="*/ 28575 h 6886575"/>
              <a:gd name="connsiteX0" fmla="*/ 2056998 w 3981702"/>
              <a:gd name="connsiteY0" fmla="*/ 14287 h 6872287"/>
              <a:gd name="connsiteX1" fmla="*/ 3967414 w 3981702"/>
              <a:gd name="connsiteY1" fmla="*/ 0 h 6872287"/>
              <a:gd name="connsiteX2" fmla="*/ 3981702 w 3981702"/>
              <a:gd name="connsiteY2" fmla="*/ 6857999 h 6872287"/>
              <a:gd name="connsiteX3" fmla="*/ 2783919 w 3981702"/>
              <a:gd name="connsiteY3" fmla="*/ 6872287 h 6872287"/>
              <a:gd name="connsiteX4" fmla="*/ 2752534 w 3981702"/>
              <a:gd name="connsiteY4" fmla="*/ 6865044 h 6872287"/>
              <a:gd name="connsiteX5" fmla="*/ 0 w 3981702"/>
              <a:gd name="connsiteY5" fmla="*/ 3310941 h 6872287"/>
              <a:gd name="connsiteX6" fmla="*/ 1920467 w 3981702"/>
              <a:gd name="connsiteY6" fmla="*/ 84214 h 6872287"/>
              <a:gd name="connsiteX7" fmla="*/ 2056998 w 3981702"/>
              <a:gd name="connsiteY7" fmla="*/ 14287 h 6872287"/>
              <a:gd name="connsiteX0" fmla="*/ 2056998 w 4039095"/>
              <a:gd name="connsiteY0" fmla="*/ 14287 h 6872287"/>
              <a:gd name="connsiteX1" fmla="*/ 4038852 w 4039095"/>
              <a:gd name="connsiteY1" fmla="*/ 0 h 6872287"/>
              <a:gd name="connsiteX2" fmla="*/ 3981702 w 4039095"/>
              <a:gd name="connsiteY2" fmla="*/ 6857999 h 6872287"/>
              <a:gd name="connsiteX3" fmla="*/ 2783919 w 4039095"/>
              <a:gd name="connsiteY3" fmla="*/ 6872287 h 6872287"/>
              <a:gd name="connsiteX4" fmla="*/ 2752534 w 4039095"/>
              <a:gd name="connsiteY4" fmla="*/ 6865044 h 6872287"/>
              <a:gd name="connsiteX5" fmla="*/ 0 w 4039095"/>
              <a:gd name="connsiteY5" fmla="*/ 3310941 h 6872287"/>
              <a:gd name="connsiteX6" fmla="*/ 1920467 w 4039095"/>
              <a:gd name="connsiteY6" fmla="*/ 84214 h 6872287"/>
              <a:gd name="connsiteX7" fmla="*/ 2056998 w 4039095"/>
              <a:gd name="connsiteY7" fmla="*/ 14287 h 6872287"/>
              <a:gd name="connsiteX0" fmla="*/ 2056998 w 3981702"/>
              <a:gd name="connsiteY0" fmla="*/ 0 h 6858000"/>
              <a:gd name="connsiteX1" fmla="*/ 3953127 w 3981702"/>
              <a:gd name="connsiteY1" fmla="*/ 0 h 6858000"/>
              <a:gd name="connsiteX2" fmla="*/ 3981702 w 3981702"/>
              <a:gd name="connsiteY2" fmla="*/ 6843712 h 6858000"/>
              <a:gd name="connsiteX3" fmla="*/ 2783919 w 3981702"/>
              <a:gd name="connsiteY3" fmla="*/ 6858000 h 6858000"/>
              <a:gd name="connsiteX4" fmla="*/ 2752534 w 3981702"/>
              <a:gd name="connsiteY4" fmla="*/ 6850757 h 6858000"/>
              <a:gd name="connsiteX5" fmla="*/ 0 w 3981702"/>
              <a:gd name="connsiteY5" fmla="*/ 3296654 h 6858000"/>
              <a:gd name="connsiteX6" fmla="*/ 1920467 w 3981702"/>
              <a:gd name="connsiteY6" fmla="*/ 69927 h 6858000"/>
              <a:gd name="connsiteX7" fmla="*/ 2056998 w 398170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81702" h="6858000">
                <a:moveTo>
                  <a:pt x="2056998" y="0"/>
                </a:moveTo>
                <a:lnTo>
                  <a:pt x="3953127" y="0"/>
                </a:lnTo>
                <a:cubicBezTo>
                  <a:pt x="3957890" y="2286000"/>
                  <a:pt x="3976939" y="4557712"/>
                  <a:pt x="3981702" y="6843712"/>
                </a:cubicBezTo>
                <a:lnTo>
                  <a:pt x="2783919" y="6858000"/>
                </a:lnTo>
                <a:lnTo>
                  <a:pt x="2752534" y="6850757"/>
                </a:lnTo>
                <a:cubicBezTo>
                  <a:pt x="1169639" y="6443496"/>
                  <a:pt x="0" y="5006667"/>
                  <a:pt x="0" y="3296654"/>
                </a:cubicBezTo>
                <a:cubicBezTo>
                  <a:pt x="0" y="1903310"/>
                  <a:pt x="776551" y="691340"/>
                  <a:pt x="1920467" y="69927"/>
                </a:cubicBezTo>
                <a:lnTo>
                  <a:pt x="2056998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Illustration of a pencil character ">
            <a:extLst>
              <a:ext uri="{FF2B5EF4-FFF2-40B4-BE49-F238E27FC236}">
                <a16:creationId xmlns:a16="http://schemas.microsoft.com/office/drawing/2014/main" id="{222ABB80-F4BD-D04A-9014-C1E1AC2799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492209">
            <a:off x="715004" y="1795108"/>
            <a:ext cx="1915595" cy="326778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50585-CA92-EB41-9898-BB8983638A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89120" y="1970358"/>
            <a:ext cx="6858000" cy="4233672"/>
          </a:xfrm>
        </p:spPr>
        <p:txBody>
          <a:bodyPr/>
          <a:lstStyle/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Explain how the school addresses academic and                  behavioral problems.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Outline the school's policies regarding tardiness, absence,       and discipline. 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 policy information about:</a:t>
            </a:r>
          </a:p>
          <a:p>
            <a:pPr marL="800100" lvl="1" indent="-34290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School cancellations for bad weather and other reasons. </a:t>
            </a:r>
          </a:p>
          <a:p>
            <a:pPr marL="800100" lvl="1" indent="-34290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Emergency procedures.</a:t>
            </a:r>
          </a:p>
          <a:p>
            <a:pPr marL="800100" lvl="1" indent="-34290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Transportation. </a:t>
            </a:r>
          </a:p>
          <a:p>
            <a:pPr marL="800100" lvl="1" indent="-34290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After-school activities.</a:t>
            </a:r>
          </a:p>
          <a:p>
            <a:pPr marL="800100" lvl="1" indent="-34290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Volunteering.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35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489C1B-E610-4A9C-9D28-118BB1DC5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Involved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5168B-77B1-A847-B1E3-2433BEBFD3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List opportunities for parents to become involved in volunteer programs, advisory councils, and the PTA.</a:t>
            </a:r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 sign-up sheets for parents who are interested in helping to plan parties or special projects for your class. </a:t>
            </a:r>
          </a:p>
          <a:p>
            <a:endParaRPr lang="en-US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563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E16C4-8E88-4788-939C-687DC13FB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916BCB-384D-4A08-BEE7-8E8B4C216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070" y="1714500"/>
            <a:ext cx="3429000" cy="3429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 descr="Illustration of a green pencil sharpener character ">
            <a:extLst>
              <a:ext uri="{FF2B5EF4-FFF2-40B4-BE49-F238E27FC236}">
                <a16:creationId xmlns:a16="http://schemas.microsoft.com/office/drawing/2014/main" id="{A5A4FC33-D142-4E28-8346-35D781135E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580273" y="2306952"/>
            <a:ext cx="1572593" cy="224409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C9A77-60CE-4D42-8E97-990157A99D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89120" y="1958784"/>
            <a:ext cx="6858000" cy="4233672"/>
          </a:xfrm>
        </p:spPr>
        <p:txBody>
          <a:bodyPr/>
          <a:lstStyle/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Take questions from parents.</a:t>
            </a:r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Ask parents to fill out a questionnaire about their child. </a:t>
            </a:r>
          </a:p>
          <a:p>
            <a:pPr marL="742950" lvl="1" indent="-28575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Have them describe areas in which they would like to see their child improve.</a:t>
            </a:r>
          </a:p>
          <a:p>
            <a:pPr marL="742950" lvl="1" indent="-28575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Have them describe their child's personality, interests, and talents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515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089901-0028-451D-BEFF-E66F1CA09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Handouts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79B97-A3DA-7541-9D49-39EC686F9E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Translate handouts for parents for whom English is a second language.</a:t>
            </a: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Handouts might include:</a:t>
            </a:r>
          </a:p>
          <a:p>
            <a:pPr marL="742950" lvl="1" indent="-28575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list of school phone numbers, e-mail addresses, and Web site addresses.</a:t>
            </a:r>
          </a:p>
          <a:p>
            <a:pPr marL="742950" lvl="1" indent="-28575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Copies of classroom and school policies.</a:t>
            </a:r>
          </a:p>
          <a:p>
            <a:pPr marL="742950" lvl="1" indent="-28575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list of materials that children will need for class. </a:t>
            </a:r>
          </a:p>
          <a:p>
            <a:endParaRPr lang="en-US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335291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1 - Leisure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Getting Started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What do you like to do in your free time?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Listen and Read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Listen to and read the conversation between Tom and Trang.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the Sentences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Complete sentences based on the dialogue.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Categorize Activities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Write the activities from the box under the correct pictures.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70741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Match Descriptions to Activities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Read the phrases and guess which activities are described.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Discussion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If you have some free time this weekend, what will you do?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Review key vocabulary and activities from the lesson.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3: Hobbies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 Closer Look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Introduction to hobbies and interests</a:t>
            </a:r>
          </a:p>
          <a:p>
            <a:pPr/>
            <a:r>
              <a:t>What are your hobbies?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Vocabulary Matching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Match a word/phrase in column A with a word in column B to make expressions about likes.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243147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Vocabulary Fill-in-the-blanks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Fill in each blank with a correct word from the box.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6102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Sentence Completion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Complete the sentences about what you like or dislike doing.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97258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4: Pronunciation 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Listen and repeat the words. Pay attention to the sounds /ʊ/ and /u:/.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176617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5: Sentence 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Listen and practise the sentences. Underline the bold words with /ʊ/, and circle the bold words with /u:/.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Review of vocabulary and pronunciation covered in the lesson.</a:t>
            </a:r>
          </a:p>
          <a:p>
            <a:pPr/>
            <a:r>
              <a:t>What did you find interesting or challenging about the lesson?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1 - Leisure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 Closer Look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What are some activities you like or dislike doing in your free time?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Grammar 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Some verbs of liking and disliking can be followed by gerunds only. Example: They dislike surfing the net.</a:t>
            </a:r>
          </a:p>
          <a:p>
            <a:pPr/>
            <a:r>
              <a:t>Some are followed by both gerunds and to-infinitives. Example: I love going / to go to the cinema.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287188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5: Leisure Activities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COMMUNICATION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What are your favorite leisure activities?</a:t>
            </a:r>
          </a:p>
          <a:p>
            <a:pPr/>
            <a:r>
              <a:t>Have you ever invited someone to join you?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Listen and Read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Listen to the dialogues and follow along in your textbooks.</a:t>
            </a:r>
          </a:p>
          <a:p>
            <a:pPr/>
            <a:r>
              <a:t>Highlight the phrases used for inviting and accepting invitations: 'Would you like to go...?', 'I’d love to.', 'Do you fancy going...?', 'That’s great.'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190624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Practice in Pairs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Practice the dialogues with your partners, using the highlighted language from the dialogues.</a:t>
            </a:r>
          </a:p>
          <a:p>
            <a:pPr/>
            <a:r>
              <a:t>Scenarios: playing badminton, making paper flowers, trying home-made pizza.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Identify Activities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Discuss in pairs what each activity is and share your answers with the class.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618766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4: Read and Complete 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Read the text about Sakura, Eric, and Lan's leisure activities.</a:t>
            </a:r>
          </a:p>
          <a:p>
            <a:pPr/>
            <a:r>
              <a:t>Read the text and complete the table with information about each teenager's leisure activity, who they do it with, and the benefits.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349758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72000"/>
            <a:ext cx="4114800" cy="8915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5: Group Discussion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Which activity would you like to try? Why do you want to try it?</a:t>
            </a:r>
          </a:p>
          <a:p>
            <a:pPr/>
            <a:r>
              <a:t>Discuss in groups and prepare to report your answers.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What did you find most interesting about the lesson?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Leisure Activities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Skills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What are some leisure activities you know?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1: Picture Discussion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Look at the pictures and discuss the activities you see.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2: Reading Comprehension - Multiple Choice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Read a text about Trang's leisure activities and answer multiple choice questions.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3: Vocabulary Focus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The word 'connect' is closest in meaning to ______.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4: Detailed Reading and Question Answering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Read the text again and answer detailed questions about Trang's activities.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5: Group Discussion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Discuss personal leisure activities in groups and record answers.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134559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6: Reporting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Report on group members' leisure activities and identify common ones.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Summarize the lesson and ask any final questions.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1 - Leisure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Skills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What are your favorite leisure activities with friends?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Answer the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In your opinion, what activities can we do with our friends in our leisure time?</a:t>
            </a:r>
          </a:p>
          <a:p>
            <a:pPr/>
            <a:r>
              <a:t>Why should we spend time with our friends?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Listen and Choose the Correct Answer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Listen to an interview with Mark and choose the correct answers to the questions.</a:t>
            </a:r>
          </a:p>
          <a:p>
            <a:pPr/>
            <a:r>
              <a:t>When does Mark usually have free time?</a:t>
            </a:r>
          </a:p>
          <a:p>
            <a:pPr/>
            <a:r>
              <a:t>Who does he spend his free time with?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Listen Again and Fill in the Blanks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Listen to the interview again and fill in the blanks in the table.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356429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4: Pair Work - Ask and Answer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Work in pairs to ask and answer questions about free time activities.</a:t>
            </a:r>
          </a:p>
          <a:p>
            <a:pPr/>
            <a:r>
              <a:t>When do you usually have free time?</a:t>
            </a:r>
          </a:p>
          <a:p>
            <a:pPr/>
            <a:r>
              <a:t>What do you usually do with your friends in your free time?</a:t>
            </a:r>
          </a:p>
          <a:p>
            <a:pPr/>
            <a:r>
              <a:t>Why do you do these activities?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5: Write an Email to a Penfriend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Write an email to a penfriend about what you usually do with friends in your free time.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6782637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What did you learn about leisure activities?</a:t>
            </a:r>
          </a:p>
          <a:p>
            <a:pPr/>
            <a:r>
              <a:t>How can you spend your free time with friends?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Leisure Activities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Looking Back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Introduction to the topic of leisure activities.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Vocabulary Task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Complete the sentences with appropriate leisure activities.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Writing Task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Write complete sentences from the given cues.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Grammar Task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Fill in each blank with the correct form(s) of the verb in brackets.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Grammar Task 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Complete the passage using the correct form(s) of the verbs in brackets and the pictures.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6672649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Review of key vocabulary and grammar points covered in the lesson.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1 - Leisure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Project: Leisure Time Survey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What do you usually do in your free time?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Conduct Interviews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Form groups and interview classmates using the following questions:</a:t>
            </a:r>
          </a:p>
          <a:p>
            <a:pPr/>
            <a:r>
              <a:t>1. When do you have free time?</a:t>
            </a:r>
          </a:p>
          <a:p>
            <a:pPr/>
            <a:r>
              <a:t>2. What do you like doing with your family in your free time?</a:t>
            </a:r>
          </a:p>
          <a:p>
            <a:pPr/>
            <a:r>
              <a:t>3. What do you like doing with your friends in your free time?</a:t>
            </a:r>
          </a:p>
          <a:p>
            <a:pPr/>
            <a:r>
              <a:t>4. What leisure activities do you like doing on your own?</a:t>
            </a:r>
          </a:p>
          <a:p>
            <a:pPr/>
            <a:r>
              <a:t>5. What leisure activities would you like to try in the future?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Collect and Organize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Fill in the table with the collected data, ensuring each student's responses are recorded under the appropriate questions.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774954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Report Findings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Prepare and deliver a presentation based on the survey findings, using the guiding questions to structure your report.</a:t>
            </a:r>
          </a:p>
          <a:p>
            <a:pPr/>
            <a:r>
              <a:t>Guiding questions:</a:t>
            </a:r>
          </a:p>
          <a:p>
            <a:pPr/>
            <a:r>
              <a:t>1. How many students did you interview?</a:t>
            </a:r>
          </a:p>
          <a:p>
            <a:pPr/>
            <a:r>
              <a:t>2. When do the students have free time?</a:t>
            </a:r>
          </a:p>
          <a:p>
            <a:pPr/>
            <a:r>
              <a:t>3. What are the most popular activities they do with their family?</a:t>
            </a:r>
          </a:p>
          <a:p>
            <a:pPr/>
            <a:r>
              <a:t>4. What are the most popular activities they do with their friends?</a:t>
            </a:r>
          </a:p>
          <a:p>
            <a:pPr/>
            <a:r>
              <a:t>5. What are the most popular activities they do on their own?</a:t>
            </a:r>
          </a:p>
          <a:p>
            <a:pPr/>
            <a:r>
              <a:t>6. What leisure activities would they like to try in the future?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Participate in the pronunciation practice and ask any remaining questions about the lesson.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ck to school">
      <a:dk1>
        <a:sysClr val="windowText" lastClr="000000"/>
      </a:dk1>
      <a:lt1>
        <a:sysClr val="window" lastClr="FFFFFF"/>
      </a:lt1>
      <a:dk2>
        <a:srgbClr val="445EA2"/>
      </a:dk2>
      <a:lt2>
        <a:srgbClr val="EBEBEB"/>
      </a:lt2>
      <a:accent1>
        <a:srgbClr val="4495A2"/>
      </a:accent1>
      <a:accent2>
        <a:srgbClr val="7CA655"/>
      </a:accent2>
      <a:accent3>
        <a:srgbClr val="DFB240"/>
      </a:accent3>
      <a:accent4>
        <a:srgbClr val="DF8C40"/>
      </a:accent4>
      <a:accent5>
        <a:srgbClr val="DF5D40"/>
      </a:accent5>
      <a:accent6>
        <a:srgbClr val="8760AD"/>
      </a:accent6>
      <a:hlink>
        <a:srgbClr val="DF5D40"/>
      </a:hlink>
      <a:folHlink>
        <a:srgbClr val="8760AD"/>
      </a:folHlink>
    </a:clrScheme>
    <a:fontScheme name="Custom 30">
      <a:majorFont>
        <a:latin typeface="Kristen ITC"/>
        <a:ea typeface=""/>
        <a:cs typeface=""/>
      </a:majorFont>
      <a:minorFont>
        <a:latin typeface="Quir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HousePresentation_Elementary_Win32_JB_v2" id="{76CC1F8F-1616-4FD5-B5D9-5288357CAB76}" vid="{CCFA5B03-57D1-4BF3-98DD-85D1A7F0AA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04EE7CA-01E4-4C36-A155-A254FEC02701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4EED2D-C894-47C4-9CDD-55EC03B2713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8431A9B-4B87-4F2F-AB9E-CAE6A6729B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F07EB6-DDE3-49D2-9047-A171C0D29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Open house presentation</Template>
  <TotalTime>11</TotalTime>
  <Words>463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Courier New</vt:lpstr>
      <vt:lpstr>Kristen ITC</vt:lpstr>
      <vt:lpstr>Quire Sans</vt:lpstr>
      <vt:lpstr>Office Theme</vt:lpstr>
      <vt:lpstr>Elm Elementary School </vt:lpstr>
      <vt:lpstr>Welcome Parents!</vt:lpstr>
      <vt:lpstr>Curriculum Goals</vt:lpstr>
      <vt:lpstr>In-class Activity</vt:lpstr>
      <vt:lpstr>Class Information</vt:lpstr>
      <vt:lpstr>Class Rules</vt:lpstr>
      <vt:lpstr>School Policies</vt:lpstr>
      <vt:lpstr>Get Involved </vt:lpstr>
      <vt:lpstr>Questions?</vt:lpstr>
      <vt:lpstr>Handouts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Vương Hoàng Duy</dc:creator>
  <cp:lastModifiedBy>Vương Hoàng Duy</cp:lastModifiedBy>
  <cp:revision>1</cp:revision>
  <dcterms:created xsi:type="dcterms:W3CDTF">2026-04-25T03:51:30Z</dcterms:created>
  <dcterms:modified xsi:type="dcterms:W3CDTF">2026-04-25T04:02:35Z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