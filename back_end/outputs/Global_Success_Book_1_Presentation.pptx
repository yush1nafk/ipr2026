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5"/>
  </p:handoutMasterIdLst>
  <p:sldIdLst>
    <p:sldId id="289" r:id="rId5"/>
    <p:sldId id="290" r:id="rId6"/>
    <p:sldId id="302" r:id="rId7"/>
    <p:sldId id="301" r:id="rId8"/>
    <p:sldId id="293" r:id="rId9"/>
    <p:sldId id="294" r:id="rId10"/>
    <p:sldId id="303" r:id="rId11"/>
    <p:sldId id="300" r:id="rId12"/>
    <p:sldId id="297" r:id="rId13"/>
    <p:sldId id="299" r:id="rId14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339" r:id="rId55"/>
    <p:sldId id="340" r:id="rId56"/>
    <p:sldId id="341" r:id="rId57"/>
    <p:sldId id="342" r:id="rId58"/>
    <p:sldId id="343" r:id="rId59"/>
    <p:sldId id="344" r:id="rId60"/>
    <p:sldId id="345" r:id="rId61"/>
    <p:sldId id="346" r:id="rId62"/>
    <p:sldId id="347" r:id="rId63"/>
    <p:sldId id="348" r:id="rId64"/>
    <p:sldId id="349" r:id="rId65"/>
    <p:sldId id="350" r:id="rId66"/>
    <p:sldId id="351" r:id="rId67"/>
    <p:sldId id="352" r:id="rId68"/>
    <p:sldId id="353" r:id="rId69"/>
    <p:sldId id="354" r:id="rId70"/>
    <p:sldId id="355" r:id="rId71"/>
    <p:sldId id="356" r:id="rId72"/>
    <p:sldId id="357" r:id="rId73"/>
    <p:sldId id="358" r:id="rId74"/>
    <p:sldId id="359" r:id="rId75"/>
    <p:sldId id="360" r:id="rId76"/>
    <p:sldId id="361" r:id="rId77"/>
    <p:sldId id="362" r:id="rId78"/>
    <p:sldId id="363" r:id="rId79"/>
    <p:sldId id="364" r:id="rId80"/>
    <p:sldId id="365" r:id="rId81"/>
    <p:sldId id="366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576" userDrawn="1">
          <p15:clr>
            <a:srgbClr val="A4A3A4"/>
          </p15:clr>
        </p15:guide>
        <p15:guide id="8" orient="horz" pos="3744" userDrawn="1">
          <p15:clr>
            <a:srgbClr val="A4A3A4"/>
          </p15:clr>
        </p15:guide>
        <p15:guide id="9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725" autoAdjust="0"/>
  </p:normalViewPr>
  <p:slideViewPr>
    <p:cSldViewPr snapToGrid="0" showGuides="1">
      <p:cViewPr varScale="1">
        <p:scale>
          <a:sx n="118" d="100"/>
          <a:sy n="118" d="100"/>
        </p:scale>
        <p:origin x="252" y="96"/>
      </p:cViewPr>
      <p:guideLst>
        <p:guide orient="horz" pos="1344"/>
        <p:guide pos="576"/>
        <p:guide orient="horz" pos="3744"/>
        <p:guide pos="3840"/>
      </p:guideLst>
    </p:cSldViewPr>
  </p:slideViewPr>
  <p:outlineViewPr>
    <p:cViewPr>
      <p:scale>
        <a:sx n="33" d="100"/>
        <a:sy n="33" d="100"/>
      </p:scale>
      <p:origin x="0" y="-59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992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5DC31D-6BBA-1E40-9A7E-1FE0A421F3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9E10C-1649-9148-9887-C4B5DF38CE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65657-3F36-724B-A332-D448C4527D30}" type="datetimeFigureOut"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9E7DC-2FE3-FA48-929A-C3D3179E1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40692-4B9B-A444-A85B-911AF05DE3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0D8CC-6079-CB40-AF25-90B118481B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1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ADDF-D82C-4780-9143-87E5F529D8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8648" y="813816"/>
            <a:ext cx="64008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2B550A-AB53-4D15-A89E-6EEBB5151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41448" y="1655064"/>
            <a:ext cx="7315200" cy="1143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DE1EB1-91FE-4CB8-81BD-5BBBFC22C6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98648" y="3027707"/>
            <a:ext cx="68580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86028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11DAB-71A2-44C9-B830-25E19DC583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9B5FD0-EA88-4EA1-89FF-A0346C36D9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2203704"/>
            <a:ext cx="6400800" cy="420624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11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E24C-B229-452F-B387-BA3429761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CEFA7B-7934-4EAA-8C20-7D9B03B9E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1981933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93050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E35BBCA-FB90-42AF-995A-AA6CE87BD6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643"/>
          <a:stretch>
            <a:fillRect/>
          </a:stretch>
        </p:blipFill>
        <p:spPr>
          <a:xfrm>
            <a:off x="914400" y="466647"/>
            <a:ext cx="10563726" cy="6391353"/>
          </a:xfrm>
          <a:custGeom>
            <a:avLst/>
            <a:gdLst>
              <a:gd name="connsiteX0" fmla="*/ 0 w 10563726"/>
              <a:gd name="connsiteY0" fmla="*/ 0 h 6391353"/>
              <a:gd name="connsiteX1" fmla="*/ 10563726 w 10563726"/>
              <a:gd name="connsiteY1" fmla="*/ 0 h 6391353"/>
              <a:gd name="connsiteX2" fmla="*/ 10563726 w 10563726"/>
              <a:gd name="connsiteY2" fmla="*/ 6391353 h 6391353"/>
              <a:gd name="connsiteX3" fmla="*/ 0 w 10563726"/>
              <a:gd name="connsiteY3" fmla="*/ 6391353 h 639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63726" h="6391353">
                <a:moveTo>
                  <a:pt x="0" y="0"/>
                </a:moveTo>
                <a:lnTo>
                  <a:pt x="10563726" y="0"/>
                </a:lnTo>
                <a:lnTo>
                  <a:pt x="10563726" y="6391353"/>
                </a:lnTo>
                <a:lnTo>
                  <a:pt x="0" y="639135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399BE-6A96-4D58-AF62-861F9AE2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E12991-70DA-442D-98F3-6739146463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724912"/>
            <a:ext cx="7772401" cy="36576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778D16-894A-4379-8B5B-DC2423451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106A418-68CC-4D3D-9032-696498842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93C440-01C8-4E08-A98E-D76F10D08B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13064"/>
            <a:ext cx="6858001" cy="427939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56047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AA20A23-A33B-4A1B-9162-707282E535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602"/>
          <a:stretch>
            <a:fillRect/>
          </a:stretch>
        </p:blipFill>
        <p:spPr>
          <a:xfrm>
            <a:off x="1066800" y="523183"/>
            <a:ext cx="10058400" cy="6334817"/>
          </a:xfrm>
          <a:custGeom>
            <a:avLst/>
            <a:gdLst>
              <a:gd name="connsiteX0" fmla="*/ 0 w 10058400"/>
              <a:gd name="connsiteY0" fmla="*/ 0 h 6334817"/>
              <a:gd name="connsiteX1" fmla="*/ 10058400 w 10058400"/>
              <a:gd name="connsiteY1" fmla="*/ 0 h 6334817"/>
              <a:gd name="connsiteX2" fmla="*/ 10058400 w 10058400"/>
              <a:gd name="connsiteY2" fmla="*/ 6334817 h 6334817"/>
              <a:gd name="connsiteX3" fmla="*/ 0 w 10058400"/>
              <a:gd name="connsiteY3" fmla="*/ 6334817 h 633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334817">
                <a:moveTo>
                  <a:pt x="0" y="0"/>
                </a:moveTo>
                <a:lnTo>
                  <a:pt x="10058400" y="0"/>
                </a:lnTo>
                <a:lnTo>
                  <a:pt x="10058400" y="6334817"/>
                </a:lnTo>
                <a:lnTo>
                  <a:pt x="0" y="6334817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36F446-5EA3-48C4-AA8D-AB9850B03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70600-CFB5-4805-BC68-5AE22166B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951305"/>
            <a:ext cx="7772400" cy="3456432"/>
          </a:xfrm>
        </p:spPr>
        <p:txBody>
          <a:bodyPr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C8060D-32CA-4A3C-9EAF-A2D3801AB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92641-A8C8-41F9-8E1C-7C929693C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CC55B6-E9DA-4B68-A0D8-957F46B46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2062956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6304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C6103AFC-AC4C-4756-AEEE-B0D669AC8C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4880"/>
          <a:stretch>
            <a:fillRect/>
          </a:stretch>
        </p:blipFill>
        <p:spPr>
          <a:xfrm>
            <a:off x="878302" y="469222"/>
            <a:ext cx="10424160" cy="6388778"/>
          </a:xfrm>
          <a:custGeom>
            <a:avLst/>
            <a:gdLst>
              <a:gd name="connsiteX0" fmla="*/ 0 w 10424160"/>
              <a:gd name="connsiteY0" fmla="*/ 0 h 6388778"/>
              <a:gd name="connsiteX1" fmla="*/ 10424160 w 10424160"/>
              <a:gd name="connsiteY1" fmla="*/ 0 h 6388778"/>
              <a:gd name="connsiteX2" fmla="*/ 10424160 w 10424160"/>
              <a:gd name="connsiteY2" fmla="*/ 6388778 h 6388778"/>
              <a:gd name="connsiteX3" fmla="*/ 0 w 10424160"/>
              <a:gd name="connsiteY3" fmla="*/ 6388778 h 6388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24160" h="6388778">
                <a:moveTo>
                  <a:pt x="0" y="0"/>
                </a:moveTo>
                <a:lnTo>
                  <a:pt x="10424160" y="0"/>
                </a:lnTo>
                <a:lnTo>
                  <a:pt x="10424160" y="6388778"/>
                </a:lnTo>
                <a:lnTo>
                  <a:pt x="0" y="6388778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04EF9-570E-48F5-BA06-DEB9EB7F7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9" y="1460692"/>
            <a:ext cx="6857999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B30880-FB83-4FD8-B7A4-675D68A47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0" y="2438570"/>
            <a:ext cx="6858000" cy="3950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8183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775E2-26ED-4CEF-94F6-7C85D113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46653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32AB5-76E2-49F4-96EE-B419AF1F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94859"/>
            <a:ext cx="10058400" cy="372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6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7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F26B43"/>
          </p15:clr>
        </p15:guide>
        <p15:guide id="2" pos="576" userDrawn="1">
          <p15:clr>
            <a:srgbClr val="F26B43"/>
          </p15:clr>
        </p15:guide>
        <p15:guide id="3" pos="7104" userDrawn="1">
          <p15:clr>
            <a:srgbClr val="F26B43"/>
          </p15:clr>
        </p15:guide>
        <p15:guide id="4" orient="horz" pos="3744" userDrawn="1">
          <p15:clr>
            <a:srgbClr val="F26B43"/>
          </p15:clr>
        </p15:guide>
        <p15:guide id="5" pos="2760" userDrawn="1">
          <p15:clr>
            <a:srgbClr val="F26B43"/>
          </p15:clr>
        </p15:guide>
        <p15:guide id="6" pos="4944" userDrawn="1">
          <p15:clr>
            <a:srgbClr val="F26B43"/>
          </p15:clr>
        </p15:guide>
        <p15:guide id="7" orient="horz" pos="40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E3D5-B129-455A-8D61-5DE355CF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j-lt"/>
              </a:rPr>
              <a:t>Elm Elementary School</a:t>
            </a:r>
            <a:br>
              <a:rPr lang="en-US" dirty="0">
                <a:latin typeface="+mj-lt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512D6-1B42-4E1C-AEE3-478A340AC1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 House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348B4-1179-40C0-B903-717D79F0A3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September 8, 20xx</a:t>
            </a:r>
          </a:p>
          <a:p>
            <a:endParaRPr lang="en-US" dirty="0"/>
          </a:p>
        </p:txBody>
      </p:sp>
      <p:pic>
        <p:nvPicPr>
          <p:cNvPr id="12" name="Graphic 11" descr="Illustration of a pencil character ">
            <a:extLst>
              <a:ext uri="{FF2B5EF4-FFF2-40B4-BE49-F238E27FC236}">
                <a16:creationId xmlns:a16="http://schemas.microsoft.com/office/drawing/2014/main" id="{937FAC84-23F1-401F-A313-68AD63D60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77964">
            <a:off x="1811563" y="4144102"/>
            <a:ext cx="1155789" cy="1971643"/>
          </a:xfrm>
          <a:prstGeom prst="rect">
            <a:avLst/>
          </a:prstGeom>
        </p:spPr>
      </p:pic>
      <p:pic>
        <p:nvPicPr>
          <p:cNvPr id="8" name="Graphic 7" descr="Illustration of a blue bag of school supplies character ">
            <a:extLst>
              <a:ext uri="{FF2B5EF4-FFF2-40B4-BE49-F238E27FC236}">
                <a16:creationId xmlns:a16="http://schemas.microsoft.com/office/drawing/2014/main" id="{F3A63EAE-D921-4D74-B1C8-6D0E847DF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2560" y="4391095"/>
            <a:ext cx="2483858" cy="1709233"/>
          </a:xfrm>
          <a:prstGeom prst="rect">
            <a:avLst/>
          </a:prstGeom>
        </p:spPr>
      </p:pic>
      <p:pic>
        <p:nvPicPr>
          <p:cNvPr id="10" name="Graphic 9" descr="Illustration of a purple book character ">
            <a:extLst>
              <a:ext uri="{FF2B5EF4-FFF2-40B4-BE49-F238E27FC236}">
                <a16:creationId xmlns:a16="http://schemas.microsoft.com/office/drawing/2014/main" id="{8A4FC9B1-AAE5-49E7-9209-B1CD7DC8C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269620" y="4059937"/>
            <a:ext cx="1775352" cy="2059055"/>
          </a:xfrm>
          <a:prstGeom prst="rect">
            <a:avLst/>
          </a:prstGeom>
        </p:spPr>
      </p:pic>
      <p:pic>
        <p:nvPicPr>
          <p:cNvPr id="6" name="Graphic 5" descr="Illustration of a globe character ">
            <a:extLst>
              <a:ext uri="{FF2B5EF4-FFF2-40B4-BE49-F238E27FC236}">
                <a16:creationId xmlns:a16="http://schemas.microsoft.com/office/drawing/2014/main" id="{A1CF0450-3738-4D52-BF18-A90C1F16AC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8174" y="4442978"/>
            <a:ext cx="2213723" cy="17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5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6520-2640-4559-BAB1-ADE3A73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Parents!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D39638-AED5-4483-9DDA-49E033B81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49061"/>
            <a:ext cx="6400800" cy="4206240"/>
          </a:xfrm>
        </p:spPr>
        <p:txBody>
          <a:bodyPr/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Welcome parents to your classroom.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List the goals for the open house: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help parents understand the work their child will be doing throughout the school year.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explain your expectations of their child.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share information about how parents can support their child’s learning.</a:t>
            </a:r>
          </a:p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Illustration of a blue bag of school supplies character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61755D0-5562-4A11-BF40-227C0B57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 Goals</a:t>
            </a: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8576" y="0"/>
            <a:ext cx="3987118" cy="6867328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phic 4" descr="Illustration of a purple book character">
            <a:extLst>
              <a:ext uri="{FF2B5EF4-FFF2-40B4-BE49-F238E27FC236}">
                <a16:creationId xmlns:a16="http://schemas.microsoft.com/office/drawing/2014/main" id="{66D65075-912A-0B45-A895-6C8FA62F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8912" y="2074690"/>
            <a:ext cx="2240025" cy="270861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35634"/>
            <a:ext cx="6858000" cy="4233672"/>
          </a:xfrm>
        </p:spPr>
        <p:txBody>
          <a:bodyPr/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Describe what the students will study during the school year, including the overall curriculum plans and goals.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a detailed, colorful syllabus for parents to take home.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Suggest ways that parents can help their child learn, such as reading together for 20 minutes a day.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Use more than one slide to cover this information.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3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4B320A-560D-4493-AA6A-79A2C8DC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In-class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FFE3-A7C7-9249-96D4-8D9AC15E0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en-US" dirty="0"/>
              <a:t>Invite parents to take part in an activity, and then discuss it. Some ideas include: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Solving a math problem, such as estimating the number of beans in a jar.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Writing an encouraging letter to their child. 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Going on a classroom scavenger hunt for their child's work, the books their child likes best, and messages from their child.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3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D4A52C-1616-4DE9-8F38-FB14C873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Information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63D03-0474-4A43-A81C-E7FC3027F2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13294"/>
            <a:ext cx="6400800" cy="4206240"/>
          </a:xfrm>
        </p:spPr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Explain how students will be evaluated and graded.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Tell parents when report cards and progress reports will be sent home.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Describe the amount of homework students can expect.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Provide a calendar of upcoming events, such as class field trips and parent-teacher conferences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E64823-B1F6-4468-BC94-C8D367B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37692" y="1714500"/>
            <a:ext cx="3429000" cy="3429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Illustration of a globe character ">
            <a:extLst>
              <a:ext uri="{FF2B5EF4-FFF2-40B4-BE49-F238E27FC236}">
                <a16:creationId xmlns:a16="http://schemas.microsoft.com/office/drawing/2014/main" id="{ABDECD10-E1E7-4208-B869-09373BB9D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72" y="2491609"/>
            <a:ext cx="2645040" cy="208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4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7C4AF-BB0C-400D-A8AA-F137B026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Rules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4F2D27-80D1-43A4-B893-7086233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716" y="1714500"/>
            <a:ext cx="3429000" cy="3429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Illustration of a ruler character ">
            <a:extLst>
              <a:ext uri="{FF2B5EF4-FFF2-40B4-BE49-F238E27FC236}">
                <a16:creationId xmlns:a16="http://schemas.microsoft.com/office/drawing/2014/main" id="{4B6C31E8-1BAB-42D1-B428-60F38E95B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23556" flipH="1">
            <a:off x="900791" y="3052708"/>
            <a:ext cx="3041146" cy="96426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2FEA6-8248-4738-93E1-2DBD6D4DB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47209"/>
            <a:ext cx="6858000" cy="423367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the behavior you expect in your classroom. 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Your class rules might include: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respectful.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responsible.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 directions.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punctual.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organized.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a self-starter.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prepared.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69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917F77-243B-4BBF-93F5-981B7818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School Policies</a:t>
            </a: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flipH="1">
            <a:off x="-81024" y="0"/>
            <a:ext cx="4023360" cy="6929752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Illustration of a pencil character ">
            <a:extLst>
              <a:ext uri="{FF2B5EF4-FFF2-40B4-BE49-F238E27FC236}">
                <a16:creationId xmlns:a16="http://schemas.microsoft.com/office/drawing/2014/main" id="{222ABB80-F4BD-D04A-9014-C1E1AC279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92209">
            <a:off x="715004" y="1795108"/>
            <a:ext cx="1915595" cy="326778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70358"/>
            <a:ext cx="6858000" cy="4233672"/>
          </a:xfrm>
        </p:spPr>
        <p:txBody>
          <a:bodyPr/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how the school addresses academic and                  behavioral problems.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Outline the school's policies regarding tardiness, absence,       and discipline.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policy information about: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School cancellations for bad weather and other reasons. 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Emergency procedures.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Transportation. 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After-school activities.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Volunteering.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489C1B-E610-4A9C-9D28-118BB1DC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Involved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5168B-77B1-A847-B1E3-2433BEBFD3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List opportunities for parents to become involved in volunteer programs, advisory councils, and the PTA.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sign-up sheets for parents who are interested in helping to plan parties or special projects for your class.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6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16C4-8E88-4788-939C-687DC13F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916BCB-384D-4A08-BEE7-8E8B4C216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070" y="1714500"/>
            <a:ext cx="3429000" cy="3429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Illustration of a green pencil sharpener character ">
            <a:extLst>
              <a:ext uri="{FF2B5EF4-FFF2-40B4-BE49-F238E27FC236}">
                <a16:creationId xmlns:a16="http://schemas.microsoft.com/office/drawing/2014/main" id="{A5A4FC33-D142-4E28-8346-35D781135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80273" y="2306952"/>
            <a:ext cx="1572593" cy="224409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C9A77-60CE-4D42-8E97-990157A99D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58784"/>
            <a:ext cx="6858000" cy="4233672"/>
          </a:xfrm>
        </p:spPr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Take questions from parents.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Ask parents to fill out a questionnaire about their child. 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Have them describe areas in which they would like to see their child improve.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Have them describe their child's personality, interests, and talents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1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089901-0028-451D-BEFF-E66F1CA0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Handouts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79B97-A3DA-7541-9D49-39EC686F9E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Translate handouts for parents for whom English is a second language.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Handouts might include: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school phone numbers, e-mail addresses, and Web site addresses.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Copies of classroom and school policies.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materials that children will need for class.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35291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do you like to do in your free time?</a:t>
            </a:r>
          </a:p>
          <a:p>
            <a:pPr/>
            <a:r>
              <a:t>Share your hobbies.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Listen and 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the audio and read the conversation between Tom and Trang.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Complete the Sentences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the sentences based on the conversation.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Work in Pairs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Match the activities to the pictures.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78377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Guess the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Guess activities from the given phrases.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Group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If you have some free time this weekend, what will you do?</a:t>
            </a:r>
          </a:p>
          <a:p>
            <a:pPr/>
            <a:r>
              <a:t>Discuss your weekend plans.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Recall the new vocabulary and expressions learned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Closer Look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do the expressions 'be fond of', 'be keen on', 'be interested in', 'be crazy about', 'be into' mean?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Vocabulary Matching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Match words from column A with words from column B to form expressions.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23526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Fill in the Blanks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Fill in the blanks in sentences using words from the box.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144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Sentence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sentences about your own likes and dislikes.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Pronunciation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and repeat words, sorting them into /ʊ/ and /u:/ sounds.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804256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4114800" cy="78555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Sentence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sentences and mark the /ʊ/ and /u:/ sounds.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Recall the expressions and sounds practiced in the lesson.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Closer Look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How are the verbs 'love', 'like', 'enjoy', 'fancy', 'prefer', 'dislike', 'detest', 'hate' used in sentences?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Verb Categorization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Categorize verbs into two columns based on their usage with gerunds and to-infinitives.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365656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Multiple-Choice Exercise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Choose the correct answer for each sentence from options A, B, or 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Sentence Completion with Pictures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sentences using verbs in brackets, with reference to pictures.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875489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Personal Sentence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sentences about yourself using verbs of liking and disliking.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Likes and Dislikes Mimes Game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Mime a leisure activity you like or dislike, and others guess by asking Yes/No questions.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Recall the verbs and their usage.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Communication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When might you use the expressions 'Would you like to...?','Do you fancy...?','I’d love to.','That’s great.'?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Listen and Read Dialogues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and read dialogues focusing on inviting and accepting invitations.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19258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Practice Inviting and Accepting Invitations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Practice dialogues in pairs using the highlighted language.</a:t>
            </a:r>
          </a:p>
          <a:p>
            <a:pPr/>
            <a:r>
              <a:t>Would you like to play badminton?</a:t>
            </a:r>
          </a:p>
          <a:p>
            <a:pPr/>
            <a:r>
              <a:t>Do you fancy making paper flowers?</a:t>
            </a:r>
          </a:p>
          <a:p>
            <a:pPr/>
            <a:r>
              <a:t>I’d love to try your home-made pizza.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Identify Activities from Pictures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Identify activities in pictures.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20321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Read and Complete the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about teenagers' leisure activities and complete a table with the information.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1858518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411480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Group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Discuss which activities you would like to try and why.</a:t>
            </a:r>
          </a:p>
          <a:p>
            <a:pPr/>
            <a:r>
              <a:t>Which activity do you want to try?</a:t>
            </a:r>
          </a:p>
          <a:p>
            <a:pPr/>
            <a:r>
              <a:t>Why do you want to try it?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Recall the expressions for inviting and accepting invitations.</a:t>
            </a:r>
          </a:p>
          <a:p>
            <a:pPr/>
            <a:r>
              <a:t>Summarize the activities identified and discussed.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Skills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some activities you do in your free time?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Picture Identification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Identify the activities you see in the pictures.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37953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Reading Comprehension - Multiple Choice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about Trang's leisure activities and answer multiple-choice questions.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Vocabulary Meaning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does the word 'connect' mean in the text?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Detailed Reading and Question Answering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the text again and answer detailed questions.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Group Discussion - Leisure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Discuss your own leisure activities with family in groups and record answers.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6: Reporting Group Findings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Report your group's findings to the class and discuss common activities.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the main activities discussed in the lesson?</a:t>
            </a:r>
          </a:p>
          <a:p>
            <a:pPr/>
            <a:r>
              <a:t>What did you learn?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Skills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some activities you enjoy doing with your friends during your free time?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Pre-listening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activities can we do with our friends in our leisure time?</a:t>
            </a:r>
          </a:p>
          <a:p>
            <a:pPr/>
            <a:r>
              <a:t>Why should we spend time with our friends?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Listening for Specific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the interview with Mark and choose the correct answers.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Listening and Filling in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again and fill in the blanks in the table with no more than two words.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359698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Pair Work - Speaking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Ask and answer questions about your free time activities.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Writing an Email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Write an email to a penfriend about your leisure activities using your answers from the speaking task.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76405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the main activities discussed in the lesson?</a:t>
            </a:r>
          </a:p>
          <a:p>
            <a:pPr/>
            <a:r>
              <a:t>What did you learn?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Looking Back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some leisure activities you enjoy doing in your free time?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Vocabulary Review - Sentence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sentences with appropriate leisure activities.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Sentence Formation from Cues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Write complete sentences using provided cues.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Grammar Practice - Gerunds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Fill in the blanks with correct forms of verbs in brackets.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Passage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a passage using correct verb forms and additional words.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778826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the main activities and grammar points discussed?</a:t>
            </a:r>
          </a:p>
          <a:p>
            <a:pPr/>
            <a:r>
              <a:t>What did you learn?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some of your favorite activities to do in your free time?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Preparing for the Interview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Review the interview questions:</a:t>
            </a:r>
          </a:p>
          <a:p>
            <a:pPr/>
            <a:r>
              <a:t>- When do you have free time?</a:t>
            </a:r>
          </a:p>
          <a:p>
            <a:pPr/>
            <a:r>
              <a:t>- What do you like doing with your family?</a:t>
            </a:r>
          </a:p>
          <a:p>
            <a:pPr/>
            <a:r>
              <a:t>- What do you like doing on your own?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Conducting the Interviews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Conduct interviews with classmates using the prepared questions.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74066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Analyzing and Summarizing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Analyze the data collected and prepare to report findings.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Reporting Findings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Report your findings to the class using guiding questions.</a:t>
            </a:r>
          </a:p>
          <a:p>
            <a:pPr/>
            <a:r>
              <a:t>How many students?</a:t>
            </a:r>
          </a:p>
          <a:p>
            <a:pPr/>
            <a:r>
              <a:t>What are the popular activities?</a:t>
            </a:r>
          </a:p>
          <a:p>
            <a:pPr/>
            <a:r>
              <a:t>What would you like to try?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did you learn about leisure activities?</a:t>
            </a:r>
          </a:p>
          <a:p>
            <a:pPr/>
            <a:r>
              <a:t>What were the interesting findings from the project?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30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HousePresentation_Elementary_Win32_JB_v2" id="{76CC1F8F-1616-4FD5-B5D9-5288357CAB76}" vid="{CCFA5B03-57D1-4BF3-98DD-85D1A7F0AA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4EE7CA-01E4-4C36-A155-A254FEC02701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4EED2D-C894-47C4-9CDD-55EC03B2713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8431A9B-4B87-4F2F-AB9E-CAE6A6729B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F07EB6-DDE3-49D2-9047-A171C0D29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house presentation</Template>
  <TotalTime>11</TotalTime>
  <Words>463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Kristen ITC</vt:lpstr>
      <vt:lpstr>Quire Sans</vt:lpstr>
      <vt:lpstr>Office Theme</vt:lpstr>
      <vt:lpstr>Elm Elementary School </vt:lpstr>
      <vt:lpstr>Welcome Parents!</vt:lpstr>
      <vt:lpstr>Curriculum Goals</vt:lpstr>
      <vt:lpstr>In-class Activity</vt:lpstr>
      <vt:lpstr>Class Information</vt:lpstr>
      <vt:lpstr>Class Rules</vt:lpstr>
      <vt:lpstr>School Policies</vt:lpstr>
      <vt:lpstr>Get Involved </vt:lpstr>
      <vt:lpstr>Questions?</vt:lpstr>
      <vt:lpstr>Handouts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Vương Hoàng Duy</dc:creator>
  <cp:lastModifiedBy>Vương Hoàng Duy</cp:lastModifiedBy>
  <cp:revision>1</cp:revision>
  <dcterms:created xsi:type="dcterms:W3CDTF">2026-04-25T03:51:30Z</dcterms:created>
  <dcterms:modified xsi:type="dcterms:W3CDTF">2026-04-25T04:02:35Z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